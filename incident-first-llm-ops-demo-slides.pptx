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691640" cy="310896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2D392"/>
                </a:solidFill>
                <a:latin typeface="Aptos"/>
              </a:rPr>
              <a:t>LIVE EVE-NG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F"/>
                </a:solidFill>
                <a:latin typeface="Aptos Display"/>
              </a:rPr>
              <a:t>Incident-First LLM Ops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DBAD6"/>
                </a:solidFill>
                <a:latin typeface="Aptos"/>
              </a:rPr>
              <a:t>Approval-gated self-healing with real syslog, real CLI evidence, and real device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10972800" cy="4343400"/>
          </a:xfrm>
          <a:prstGeom prst="roundRect">
            <a:avLst/>
          </a:prstGeom>
          <a:solidFill>
            <a:srgbClr val="141F38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0F4FF"/>
                </a:solidFill>
                <a:latin typeface="Aptos"/>
              </a:defRPr>
            </a:pPr>
            <a:r>
              <a:t>What this demo proves</a:t>
            </a:r>
          </a:p>
          <a:p>
            <a:pPr>
              <a:defRPr b="0" sz="1600">
                <a:solidFill>
                  <a:srgbClr val="ADBAD6"/>
                </a:solidFill>
                <a:latin typeface="Aptos"/>
              </a:defRPr>
            </a:pPr>
            <a:r>
              <a:t>Legacy monitoring stops at alerts.</a:t>
            </a:r>
          </a:p>
          <a:p>
            <a:pPr>
              <a:defRPr b="0" sz="1600">
                <a:solidFill>
                  <a:srgbClr val="ADBAD6"/>
                </a:solidFill>
                <a:latin typeface="Aptos"/>
              </a:defRPr>
            </a:pPr>
            <a:r>
              <a:t>This platform continues through investigation, blast-radius understanding, fix proposal, approval-gated execution, and verification.</a:t>
            </a:r>
          </a:p>
          <a:p>
            <a:pPr>
              <a:defRPr b="0" sz="1600">
                <a:solidFill>
                  <a:srgbClr val="ADBAD6"/>
                </a:solidFill>
                <a:latin typeface="Aptos"/>
              </a:defRPr>
            </a:pPr>
            <a:r>
              <a:t>Everything is evidence-backed from the live lab. No mock incidents, no fake health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74519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874519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Investigate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816352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Propose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816352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Approve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758184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758184"/>
            <a:ext cx="1554480" cy="685800"/>
          </a:xfrm>
          <a:prstGeom prst="roundRect">
            <a:avLst/>
          </a:prstGeom>
          <a:solidFill>
            <a:srgbClr val="1B2A4A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4709160"/>
            <a:ext cx="1554480" cy="685800"/>
          </a:xfrm>
          <a:prstGeom prst="roundRect">
            <a:avLst/>
          </a:prstGeom>
          <a:solidFill>
            <a:srgbClr val="164636"/>
          </a:solidFill>
          <a:ln w="13970">
            <a:solidFill>
              <a:srgbClr val="4D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Close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212848"/>
            <a:ext cx="32004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2560320"/>
            <a:ext cx="0" cy="256032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2560320"/>
            <a:ext cx="0" cy="256032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52360" y="3502152"/>
            <a:ext cx="0" cy="256032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26880" y="3502152"/>
            <a:ext cx="0" cy="256032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52360" y="4443984"/>
            <a:ext cx="731519" cy="265176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87968" y="4443984"/>
            <a:ext cx="438912" cy="265176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61996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DBAD6"/>
                </a:solidFill>
                <a:latin typeface="Aptos"/>
              </a:rPr>
              <a:t>Ops VM runs API + worker + PostgreSQL + syslog-ng; EVE-NG provides the live routers, switches, ISP simulator, and application target.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143000" cy="310896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2D392"/>
                </a:solidFill>
                <a:latin typeface="Apto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F"/>
                </a:solidFill>
                <a:latin typeface="Aptos Display"/>
              </a:rPr>
              <a:t>Recommended Demo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DBAD6"/>
                </a:solidFill>
                <a:latin typeface="Aptos"/>
              </a:rPr>
              <a:t>One ops VM, split by process, with PostgreSQL as the shared evidence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182880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Demo User
Browser / PowerPoint View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651760"/>
            <a:ext cx="50292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463040"/>
            <a:ext cx="4754880" cy="4206240"/>
          </a:xfrm>
          <a:prstGeom prst="roundRect">
            <a:avLst/>
          </a:prstGeom>
          <a:solidFill>
            <a:srgbClr val="111B2F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0F4FF"/>
                </a:solidFill>
                <a:latin typeface="Aptos"/>
              </a:rPr>
              <a:t>Ops VM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2057400"/>
            <a:ext cx="1920240" cy="82296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FastAPI API
Chat / UI / Approvals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2057400"/>
            <a:ext cx="1920240" cy="82296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ops_worker
Background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154680"/>
            <a:ext cx="1920240" cy="822960"/>
          </a:xfrm>
          <a:prstGeom prst="roundRect">
            <a:avLst/>
          </a:prstGeom>
          <a:solidFill>
            <a:srgbClr val="182E50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PostgreSQL
Incidents / Jobs /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154680"/>
            <a:ext cx="1920240" cy="822960"/>
          </a:xfrm>
          <a:prstGeom prst="roundRect">
            <a:avLst/>
          </a:prstGeom>
          <a:solidFill>
            <a:srgbClr val="182E50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syslog-ng
Raw Log Collector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297680"/>
            <a:ext cx="1920240" cy="822960"/>
          </a:xfrm>
          <a:prstGeom prst="roundRect">
            <a:avLst/>
          </a:prstGeom>
          <a:solidFill>
            <a:srgbClr val="182E50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Snapshot Store
Config Baselines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06240" y="2880360"/>
            <a:ext cx="0" cy="27432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880360"/>
            <a:ext cx="0" cy="27432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303520" y="3977639"/>
            <a:ext cx="228600" cy="320041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0" y="3977639"/>
            <a:ext cx="502920" cy="320041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66360" y="2468880"/>
            <a:ext cx="27432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1783080"/>
            <a:ext cx="2514600" cy="393192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0F4FF"/>
                </a:solidFill>
                <a:latin typeface="Aptos"/>
              </a:rPr>
              <a:t>EVE-NG Lab
HQ Core / Dist
Branch Routers
Access Switches
ISP/WAN Simulator
App / SLA Target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3566160"/>
            <a:ext cx="1005841" cy="0"/>
          </a:xfrm>
          <a:prstGeom prst="line">
            <a:avLst/>
          </a:prstGeom>
          <a:ln w="25400">
            <a:solidFill>
              <a:srgbClr val="FF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360920" y="2880360"/>
            <a:ext cx="137160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6053328"/>
            <a:ext cx="10881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BAD6"/>
                </a:solidFill>
                <a:latin typeface="Aptos"/>
              </a:defRPr>
            </a:pPr>
            <a:r>
              <a:t>Key point: API and worker are separate processes on the same VM. We delay Redis/Celery until scale actually requires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1005840" cy="310896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2D392"/>
                </a:solidFill>
                <a:latin typeface="Aptos"/>
              </a:rPr>
              <a:t>OPS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F"/>
                </a:solidFill>
                <a:latin typeface="Aptos Display"/>
              </a:rPr>
              <a:t>Incident-to-Self-Healing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DBAD6"/>
                </a:solidFill>
                <a:latin typeface="Aptos"/>
              </a:rPr>
              <a:t>The system closes the loop after human approval, using live evidence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F4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1. Fault
in 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2. Syslog
Collected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3. Incident
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4. LLM
Investigates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5. CLI / Config
Enrichment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6. Approval
Proposal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2D3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7. Human
Approves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20" y="2331720"/>
            <a:ext cx="1234440" cy="914400"/>
          </a:xfrm>
          <a:prstGeom prst="roundRect">
            <a:avLst/>
          </a:prstGeom>
          <a:solidFill>
            <a:srgbClr val="141F38"/>
          </a:solidFill>
          <a:ln w="13970">
            <a:solidFill>
              <a:srgbClr val="4D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0F4FF"/>
                </a:solidFill>
                <a:latin typeface="Aptos"/>
              </a:rPr>
              <a:t>8. Execute +
Verify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788920"/>
            <a:ext cx="182881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91839" y="2788920"/>
            <a:ext cx="182881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09160" y="2788920"/>
            <a:ext cx="18288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2788920"/>
            <a:ext cx="18288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788920"/>
            <a:ext cx="182879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61120" y="2788920"/>
            <a:ext cx="18288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78440" y="2788920"/>
            <a:ext cx="182880" cy="0"/>
          </a:xfrm>
          <a:prstGeom prst="line">
            <a:avLst/>
          </a:prstGeom>
          <a:ln w="25400">
            <a:solidFill>
              <a:srgbClr val="42D3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77240" y="3840480"/>
            <a:ext cx="3657600" cy="1645920"/>
          </a:xfrm>
          <a:prstGeom prst="roundRect">
            <a:avLst/>
          </a:prstGeom>
          <a:solidFill>
            <a:srgbClr val="141F38"/>
          </a:solidFill>
          <a:ln w="1524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3986784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F4FF"/>
                </a:solidFill>
                <a:latin typeface="Aptos"/>
              </a:rPr>
              <a:t>Automation does automatically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" y="4315968"/>
            <a:ext cx="3246120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Ingest syslog and correlate related events into incidents</a:t>
            </a:r>
          </a:p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Run LLM investigation and real CLI snapshot enrichment</a:t>
            </a:r>
          </a:p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Propose fixes with rollback and verify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40480"/>
            <a:ext cx="3063240" cy="1645920"/>
          </a:xfrm>
          <a:prstGeom prst="roundRect">
            <a:avLst/>
          </a:prstGeom>
          <a:solidFill>
            <a:srgbClr val="141F38"/>
          </a:solidFill>
          <a:ln w="15240">
            <a:solidFill>
              <a:srgbClr val="FFB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986784"/>
            <a:ext cx="2697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F4FF"/>
                </a:solidFill>
                <a:latin typeface="Aptos"/>
              </a:rPr>
              <a:t>Human gate stays in 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5736" y="4315968"/>
            <a:ext cx="2651760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All config-changing actions remain approval-gated</a:t>
            </a:r>
          </a:p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High-blast-radius actions stay blocked or manual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840480"/>
            <a:ext cx="3566160" cy="1645920"/>
          </a:xfrm>
          <a:prstGeom prst="roundRect">
            <a:avLst/>
          </a:prstGeom>
          <a:solidFill>
            <a:srgbClr val="141F38"/>
          </a:solidFill>
          <a:ln w="15240">
            <a:solidFill>
              <a:srgbClr val="4D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3986784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F4FF"/>
                </a:solidFill>
                <a:latin typeface="Aptos"/>
              </a:rPr>
              <a:t>System proves after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4315968"/>
            <a:ext cx="3154679" cy="10424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Checks syslog recovery and live CLI state</a:t>
            </a:r>
          </a:p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Moves incident to monitoring or resolves it</a:t>
            </a:r>
          </a:p>
          <a:p>
            <a:pPr>
              <a:defRPr sz="1200">
                <a:solidFill>
                  <a:srgbClr val="ADBAD6"/>
                </a:solidFill>
                <a:latin typeface="Aptos"/>
              </a:defRPr>
            </a:pPr>
            <a:r>
              <a:t>Escalates when evidence shows physical or upstream 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822960" cy="310896"/>
          </a:xfrm>
          <a:prstGeom prst="roundRect">
            <a:avLst/>
          </a:prstGeom>
          <a:solidFill>
            <a:srgbClr val="1B2A4A"/>
          </a:solidFill>
          <a:ln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42D392"/>
                </a:solidFill>
                <a:latin typeface="Aptos"/>
              </a:rP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F"/>
                </a:solidFill>
                <a:latin typeface="Aptos Display"/>
              </a:rPr>
              <a:t>Why This Beats Legacy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DBAD6"/>
                </a:solidFill>
                <a:latin typeface="Aptos"/>
              </a:rPr>
              <a:t>The value is not only alerting. The value is evidence-backed operational closure.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166360" cy="4480560"/>
          </a:xfrm>
          <a:prstGeom prst="roundRect">
            <a:avLst/>
          </a:prstGeom>
          <a:solidFill>
            <a:srgbClr val="141F38"/>
          </a:solidFill>
          <a:ln>
            <a:solidFill>
              <a:srgbClr val="F4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66360" cy="4480560"/>
          </a:xfrm>
          <a:prstGeom prst="roundRect">
            <a:avLst/>
          </a:prstGeom>
          <a:solidFill>
            <a:srgbClr val="141F38"/>
          </a:solidFill>
          <a:ln>
            <a:solidFill>
              <a:srgbClr val="4D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01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0F4FF"/>
                </a:solidFill>
                <a:latin typeface="Aptos"/>
              </a:rPr>
              <a:t>Legacy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2628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Detects alerts and status changes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Requires humans to correlate symptoms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Limited root-cause context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No native fix proposal or rollback intent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Verification often manual and delayed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0F4FF"/>
                </a:solidFill>
                <a:latin typeface="Aptos"/>
              </a:rPr>
              <a:t>LLM-First Ops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526280" cy="3246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Correlates events into incidents automatically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Adds topology, config, and live CLI evidence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Produces evidence-backed diagnosis and blast radius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Generates approval-gated remediation with rollback</a:t>
            </a:r>
          </a:p>
          <a:p>
            <a:pPr>
              <a:defRPr sz="1600">
                <a:solidFill>
                  <a:srgbClr val="ADBAD6"/>
                </a:solidFill>
                <a:latin typeface="Aptos"/>
              </a:defRPr>
            </a:pPr>
            <a:r>
              <a:t>Verifies recovery and closes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4747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0F4FF"/>
                </a:solidFill>
                <a:latin typeface="Aptos"/>
              </a:rPr>
              <a:t>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996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DBAD6"/>
                </a:solidFill>
                <a:latin typeface="Aptos"/>
              </a:rPr>
              <a:t>Demo promise: real incidents, real commands, real approvals, real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